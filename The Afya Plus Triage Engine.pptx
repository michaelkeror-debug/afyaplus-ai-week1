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7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599"/>
  </p:normalViewPr>
  <p:slideViewPr>
    <p:cSldViewPr snapToGrid="0">
      <p:cViewPr varScale="1">
        <p:scale>
          <a:sx n="106" d="100"/>
          <a:sy n="106" d="100"/>
        </p:scale>
        <p:origin x="5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7/9/26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7/9/26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7/9/26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94A18-1B6A-3073-6A8C-E203B32779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001" dirty="0"/>
              <a:t>The AFYA PLUS TRIAGE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1B0CA2-37EA-5A9B-FE60-1F21AEE8C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1400" y="4352544"/>
            <a:ext cx="10452100" cy="2111756"/>
          </a:xfrm>
        </p:spPr>
        <p:txBody>
          <a:bodyPr>
            <a:normAutofit fontScale="47500" lnSpcReduction="20000"/>
          </a:bodyPr>
          <a:lstStyle/>
          <a:p>
            <a:r>
              <a:rPr lang="en-US" sz="4400" b="0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This build is a fully functional, production-ready Python inference engine that applies structured prompting techniques, forces strict JSON output structures, compares local versus cloud performance, and safely catches network exceptions.</a:t>
            </a:r>
          </a:p>
          <a:p>
            <a:r>
              <a:rPr lang="en-US" sz="4400" b="0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It coverts patients send unstructured, conversational natural-language messages to predictable, machine-readable inputs that the backend processing engines require. </a:t>
            </a:r>
          </a:p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834379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C9D49-15CC-A487-1B67-44381AC08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5D838-6DC0-C222-2E09-4D8966E4C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200" y="2638044"/>
            <a:ext cx="9639300" cy="3737356"/>
          </a:xfrm>
        </p:spPr>
        <p:txBody>
          <a:bodyPr>
            <a:normAutofit/>
          </a:bodyPr>
          <a:lstStyle/>
          <a:p>
            <a:r>
              <a:rPr lang="en-US" sz="2400" b="0" i="0" dirty="0" err="1">
                <a:solidFill>
                  <a:srgbClr val="45474C"/>
                </a:solidFill>
                <a:effectLst/>
                <a:latin typeface="Inter"/>
              </a:rPr>
              <a:t>AfyaPlus</a:t>
            </a:r>
            <a:r>
              <a:rPr lang="en-US" sz="2400" b="0" i="0" dirty="0">
                <a:solidFill>
                  <a:srgbClr val="45474C"/>
                </a:solidFill>
                <a:effectLst/>
                <a:latin typeface="Inter"/>
              </a:rPr>
              <a:t> is currently failing because patients send unstructured, conversational natural-language messages </a:t>
            </a:r>
            <a:r>
              <a:rPr lang="en-US" sz="2400" dirty="0">
                <a:solidFill>
                  <a:srgbClr val="45474C"/>
                </a:solidFill>
                <a:latin typeface="Inter"/>
              </a:rPr>
              <a:t>and t</a:t>
            </a:r>
            <a:r>
              <a:rPr lang="en-US" sz="2400" b="0" i="0" dirty="0">
                <a:solidFill>
                  <a:srgbClr val="45474C"/>
                </a:solidFill>
                <a:effectLst/>
                <a:latin typeface="Inter"/>
              </a:rPr>
              <a:t>he backend processing engines require predictable, machine-readable inputs to operate. Initial testing has shown three persistent failures: the current AI models suffer from conversational fluff, they hallucinate clinical facts, and they freeze or crash whenever network connectivity degrades. </a:t>
            </a:r>
          </a:p>
          <a:p>
            <a:r>
              <a:rPr lang="en-US" sz="2400" dirty="0">
                <a:solidFill>
                  <a:srgbClr val="45474C"/>
                </a:solidFill>
                <a:latin typeface="Inter"/>
              </a:rPr>
              <a:t>Some of the business impacts we are facing due to this include </a:t>
            </a:r>
          </a:p>
        </p:txBody>
      </p:sp>
    </p:spTree>
    <p:extLst>
      <p:ext uri="{BB962C8B-B14F-4D97-AF65-F5344CB8AC3E}">
        <p14:creationId xmlns:p14="http://schemas.microsoft.com/office/powerpoint/2010/main" val="904029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5A33-360A-5123-1D48-DCBD82F42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001" dirty="0"/>
              <a:t>KEY BUSINESS IMPACTS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03A34-E829-F6B6-192C-37C5B47A7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774788"/>
          </a:xfrm>
        </p:spPr>
        <p:txBody>
          <a:bodyPr/>
          <a:lstStyle/>
          <a:p>
            <a:r>
              <a:rPr lang="en-001" b="1" dirty="0"/>
              <a:t>Quality Assurance</a:t>
            </a:r>
            <a:r>
              <a:rPr lang="en-001" dirty="0"/>
              <a:t>: Not all messages are scored against key performance indicators (KPIs) influencing key decisions for our customer service.</a:t>
            </a:r>
          </a:p>
          <a:p>
            <a:r>
              <a:rPr lang="en-US" b="1" i="0" u="none" strike="noStrike" dirty="0">
                <a:solidFill>
                  <a:schemeClr val="tx1"/>
                </a:solidFill>
                <a:effectLst/>
                <a:latin typeface="-webkit-standard"/>
              </a:rPr>
              <a:t>Actionable Product Insights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: It becomes difficult for engineering team to measure trends in the data which help in prioritizing fixes in terms of urgency</a:t>
            </a:r>
          </a:p>
          <a:p>
            <a:r>
              <a:rPr lang="en-US" b="1" dirty="0">
                <a:solidFill>
                  <a:schemeClr val="tx1"/>
                </a:solidFill>
                <a:latin typeface="-webkit-standard"/>
              </a:rPr>
              <a:t>Personalized Recommendations</a:t>
            </a:r>
            <a:r>
              <a:rPr lang="en-US" dirty="0">
                <a:solidFill>
                  <a:schemeClr val="tx1"/>
                </a:solidFill>
                <a:latin typeface="-webkit-standard"/>
              </a:rPr>
              <a:t>: E-commerce team cannot gauge patient intent and preferences and therefore cannot adjust available offers</a:t>
            </a:r>
          </a:p>
          <a:p>
            <a:r>
              <a:rPr lang="en-US" dirty="0">
                <a:solidFill>
                  <a:schemeClr val="tx1"/>
                </a:solidFill>
                <a:latin typeface="-webkit-standard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-webkit-standard"/>
              </a:rPr>
              <a:t>Resource Allocation</a:t>
            </a:r>
            <a:r>
              <a:rPr lang="en-US" dirty="0">
                <a:solidFill>
                  <a:schemeClr val="tx1"/>
                </a:solidFill>
                <a:latin typeface="-webkit-standard"/>
              </a:rPr>
              <a:t>: Health facility needs to have clear idea of how to optimize staff based on details such as routing statistics(where patient population is denser)</a:t>
            </a:r>
          </a:p>
          <a:p>
            <a:r>
              <a:rPr lang="en-US" b="1" dirty="0">
                <a:solidFill>
                  <a:schemeClr val="tx1"/>
                </a:solidFill>
                <a:latin typeface="-webkit-standard"/>
              </a:rPr>
              <a:t>Predictive analysis and churn reduction</a:t>
            </a:r>
            <a:r>
              <a:rPr lang="en-US" dirty="0">
                <a:solidFill>
                  <a:schemeClr val="tx1"/>
                </a:solidFill>
                <a:latin typeface="-webkit-standard"/>
              </a:rPr>
              <a:t>: Machine readable inputs are needed to forecast patient retention rates and flag risks</a:t>
            </a:r>
            <a:endParaRPr lang="en-00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022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8CA74-D173-9E5F-2B03-EE04BF884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666666"/>
                </a:solidFill>
                <a:effectLst/>
                <a:latin typeface="Lato Extended"/>
              </a:rPr>
              <a:t>The Model Selection</a:t>
            </a:r>
            <a:br>
              <a:rPr lang="en-US" b="0" i="0" dirty="0">
                <a:solidFill>
                  <a:srgbClr val="666666"/>
                </a:solidFill>
                <a:effectLst/>
                <a:latin typeface="Lato Extended"/>
              </a:rPr>
            </a:b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F9712-5C1D-BCA0-6951-B2BE789DD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648456"/>
          </a:xfrm>
        </p:spPr>
        <p:txBody>
          <a:bodyPr/>
          <a:lstStyle/>
          <a:p>
            <a:pPr lvl="1"/>
            <a:r>
              <a:rPr lang="en-001" sz="2000" dirty="0"/>
              <a:t>To help us in this we are using a </a:t>
            </a:r>
            <a:r>
              <a:rPr lang="en-US" sz="2000" b="1" dirty="0">
                <a:solidFill>
                  <a:srgbClr val="45474C"/>
                </a:solidFill>
                <a:latin typeface="Inter"/>
              </a:rPr>
              <a:t>p</a:t>
            </a:r>
            <a:r>
              <a:rPr lang="en-US" sz="2000" b="1" i="0" dirty="0">
                <a:solidFill>
                  <a:srgbClr val="45474C"/>
                </a:solidFill>
                <a:effectLst/>
                <a:latin typeface="Inter"/>
              </a:rPr>
              <a:t>roprietary model </a:t>
            </a:r>
            <a:r>
              <a:rPr lang="en-US" sz="2000" dirty="0">
                <a:solidFill>
                  <a:srgbClr val="45474C"/>
                </a:solidFill>
                <a:latin typeface="Inter"/>
              </a:rPr>
              <a:t>(</a:t>
            </a:r>
            <a:r>
              <a:rPr lang="en-US" sz="2000" dirty="0" err="1">
                <a:solidFill>
                  <a:srgbClr val="45474C"/>
                </a:solidFill>
                <a:latin typeface="Inter"/>
              </a:rPr>
              <a:t>OpenAI</a:t>
            </a:r>
            <a:r>
              <a:rPr lang="en-US" sz="2000" dirty="0">
                <a:solidFill>
                  <a:srgbClr val="45474C"/>
                </a:solidFill>
                <a:latin typeface="Inter"/>
              </a:rPr>
              <a:t>)</a:t>
            </a:r>
            <a:r>
              <a:rPr lang="en-US" sz="2000" b="1" i="0" dirty="0">
                <a:solidFill>
                  <a:srgbClr val="45474C"/>
                </a:solidFill>
                <a:effectLst/>
                <a:latin typeface="Inter"/>
              </a:rPr>
              <a:t> </a:t>
            </a:r>
            <a:r>
              <a:rPr lang="en-US" sz="2000" dirty="0">
                <a:solidFill>
                  <a:srgbClr val="45474C"/>
                </a:solidFill>
                <a:effectLst/>
                <a:latin typeface="Inter"/>
              </a:rPr>
              <a:t>as it has advantages that will help us tackle the main problem.</a:t>
            </a:r>
          </a:p>
          <a:p>
            <a:pPr lvl="1"/>
            <a:r>
              <a:rPr lang="en-US" sz="2000" dirty="0">
                <a:solidFill>
                  <a:srgbClr val="45474C"/>
                </a:solidFill>
                <a:latin typeface="Inter"/>
              </a:rPr>
              <a:t>These include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5474C"/>
                </a:solidFill>
                <a:effectLst/>
                <a:latin typeface="Inter"/>
              </a:rPr>
              <a:t>High performance:</a:t>
            </a:r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 often more powerful, better optimized, and strong at reasoning and instruction following.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5474C"/>
                </a:solidFill>
                <a:effectLst/>
                <a:latin typeface="Inter"/>
              </a:rPr>
              <a:t>Easy integration:</a:t>
            </a:r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 We can sign up, get API keys, and start immediate </a:t>
            </a:r>
            <a:r>
              <a:rPr lang="en-US" dirty="0">
                <a:solidFill>
                  <a:srgbClr val="45474C"/>
                </a:solidFill>
                <a:latin typeface="Inter"/>
              </a:rPr>
              <a:t>assimilation with messaging system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However we will have a fallback local </a:t>
            </a:r>
            <a:r>
              <a:rPr lang="en-US" dirty="0">
                <a:solidFill>
                  <a:srgbClr val="45474C"/>
                </a:solidFill>
                <a:latin typeface="Inter"/>
              </a:rPr>
              <a:t>pathway in the form of </a:t>
            </a:r>
            <a:r>
              <a:rPr lang="en-US" b="1" dirty="0" err="1">
                <a:solidFill>
                  <a:srgbClr val="45474C"/>
                </a:solidFill>
                <a:latin typeface="Inter"/>
              </a:rPr>
              <a:t>Ollama</a:t>
            </a:r>
            <a:r>
              <a:rPr lang="en-US" b="1" dirty="0">
                <a:solidFill>
                  <a:srgbClr val="45474C"/>
                </a:solidFill>
                <a:latin typeface="Inter"/>
              </a:rPr>
              <a:t> service </a:t>
            </a:r>
            <a:r>
              <a:rPr lang="en-US" dirty="0">
                <a:solidFill>
                  <a:srgbClr val="45474C"/>
                </a:solidFill>
                <a:latin typeface="Inter"/>
              </a:rPr>
              <a:t>incase the cloud model fails to ensure continued delivery of service</a:t>
            </a:r>
            <a:endParaRPr lang="en-US" b="1" dirty="0">
              <a:solidFill>
                <a:srgbClr val="45474C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656034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E678-11DB-7A42-6070-034EB745C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JSON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97EC0-48D2-47AA-B49C-6E5E8B8A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3"/>
            <a:ext cx="7729728" cy="4087609"/>
          </a:xfrm>
        </p:spPr>
        <p:txBody>
          <a:bodyPr/>
          <a:lstStyle/>
          <a:p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The pipeline must not return unformatted text blocks.</a:t>
            </a:r>
          </a:p>
          <a:p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the model to map outputs to a structured, valid JSON object matching the </a:t>
            </a:r>
            <a:r>
              <a:rPr lang="en-US" b="0" i="0" dirty="0" err="1">
                <a:solidFill>
                  <a:srgbClr val="45474C"/>
                </a:solidFill>
                <a:effectLst/>
                <a:latin typeface="Inter"/>
              </a:rPr>
              <a:t>AfyaPlus</a:t>
            </a:r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 triage template:</a:t>
            </a:r>
          </a:p>
          <a:p>
            <a:endParaRPr lang="en-US" dirty="0">
              <a:solidFill>
                <a:srgbClr val="45474C"/>
              </a:solidFill>
              <a:latin typeface="Inter"/>
            </a:endParaRPr>
          </a:p>
          <a:p>
            <a:endParaRPr lang="en-US" dirty="0">
              <a:solidFill>
                <a:srgbClr val="45474C"/>
              </a:solidFill>
              <a:latin typeface="Inter"/>
            </a:endParaRPr>
          </a:p>
          <a:p>
            <a:endParaRPr lang="en-US" dirty="0">
              <a:solidFill>
                <a:srgbClr val="45474C"/>
              </a:solidFill>
              <a:latin typeface="Inter"/>
            </a:endParaRPr>
          </a:p>
          <a:p>
            <a:r>
              <a:rPr lang="en-US" dirty="0">
                <a:solidFill>
                  <a:srgbClr val="45474C"/>
                </a:solidFill>
                <a:latin typeface="Inter"/>
              </a:rPr>
              <a:t>This will save on costs we incur from API usage and also give the backend engines predictable machine readable inputs for faster processing</a:t>
            </a:r>
          </a:p>
          <a:p>
            <a:endParaRPr lang="en-US" dirty="0">
              <a:solidFill>
                <a:srgbClr val="45474C"/>
              </a:solidFill>
              <a:latin typeface="Inter"/>
            </a:endParaRPr>
          </a:p>
          <a:p>
            <a:endParaRPr lang="en-US" dirty="0">
              <a:solidFill>
                <a:srgbClr val="45474C"/>
              </a:solidFill>
              <a:latin typeface="Inte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74D4D-BB81-7C2C-1303-2306C8485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660" y="3815573"/>
            <a:ext cx="63119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97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8083F-4DC3-95EC-8634-4345C25F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9795E-9D88-9600-ABCC-6E1AC96AF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894064" cy="3978656"/>
          </a:xfrm>
        </p:spPr>
        <p:txBody>
          <a:bodyPr/>
          <a:lstStyle/>
          <a:p>
            <a:r>
              <a:rPr lang="en-001" dirty="0"/>
              <a:t>We have set up the prompt to esnure it implements: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5474C"/>
                </a:solidFill>
                <a:effectLst/>
                <a:latin typeface="Inter"/>
              </a:rPr>
              <a:t>Role-based assignment:</a:t>
            </a:r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 defining a clear operational identity and </a:t>
            </a:r>
            <a:r>
              <a:rPr lang="en-US" b="0" i="0" dirty="0" err="1">
                <a:solidFill>
                  <a:srgbClr val="45474C"/>
                </a:solidFill>
                <a:effectLst/>
                <a:latin typeface="Inter"/>
              </a:rPr>
              <a:t>behavioural</a:t>
            </a:r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 boundaries.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5474C"/>
                </a:solidFill>
                <a:effectLst/>
                <a:latin typeface="Inter"/>
              </a:rPr>
              <a:t>Chain-of-Thought (</a:t>
            </a:r>
            <a:r>
              <a:rPr lang="en-US" b="1" i="0" dirty="0" err="1">
                <a:solidFill>
                  <a:srgbClr val="45474C"/>
                </a:solidFill>
                <a:effectLst/>
                <a:latin typeface="Inter"/>
              </a:rPr>
              <a:t>CoT</a:t>
            </a:r>
            <a:r>
              <a:rPr lang="en-US" b="1" i="0" dirty="0">
                <a:solidFill>
                  <a:srgbClr val="45474C"/>
                </a:solidFill>
                <a:effectLst/>
                <a:latin typeface="Inter"/>
              </a:rPr>
              <a:t>) prompting:</a:t>
            </a:r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 forcing step-by-step reasoning logic paths before declaring a final answer.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5474C"/>
                </a:solidFill>
                <a:effectLst/>
                <a:latin typeface="Inter"/>
              </a:rPr>
              <a:t>Defensive </a:t>
            </a:r>
            <a:r>
              <a:rPr lang="en-US" b="1" i="0" dirty="0" err="1">
                <a:solidFill>
                  <a:srgbClr val="45474C"/>
                </a:solidFill>
                <a:effectLst/>
                <a:latin typeface="Inter"/>
              </a:rPr>
              <a:t>guardrailing</a:t>
            </a:r>
            <a:r>
              <a:rPr lang="en-US" b="1" i="0" dirty="0">
                <a:solidFill>
                  <a:srgbClr val="45474C"/>
                </a:solidFill>
                <a:effectLst/>
                <a:latin typeface="Inter"/>
              </a:rPr>
              <a:t>:</a:t>
            </a:r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 strict blacklisted rules preventing conversational fluff, introductory remarks, or unverified medical calculations.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5474C"/>
                </a:solidFill>
                <a:effectLst/>
                <a:latin typeface="Inter"/>
              </a:rPr>
              <a:t>Language rules</a:t>
            </a:r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: To detect patients language and interpret effectively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45474C"/>
                </a:solidFill>
                <a:latin typeface="Inter"/>
              </a:rPr>
              <a:t> This will prevent </a:t>
            </a:r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conversational fluff, and hallucinating of  clinical facts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4048619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0FC61-E0AD-666B-CD2C-D0EF376AD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001" dirty="0"/>
              <a:t>rompt instructions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DDEEC6-F164-7536-215C-0544846F0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1549" y="2325604"/>
            <a:ext cx="5730422" cy="323298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1BB946-C555-6E63-B923-D2F56E54A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549" y="5558589"/>
            <a:ext cx="6088314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7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B959F-15A0-0D23-6E38-D80614349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91426"/>
                </a:solidFill>
                <a:effectLst/>
                <a:latin typeface="Hanken Grotesk"/>
              </a:rPr>
              <a:t>Programmatic Inference &amp; Resilience </a:t>
            </a:r>
            <a:br>
              <a:rPr lang="en-US" b="0" i="0" dirty="0">
                <a:solidFill>
                  <a:srgbClr val="091426"/>
                </a:solidFill>
                <a:effectLst/>
                <a:latin typeface="Hanken Grotesk"/>
              </a:rPr>
            </a:b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87B3A-6CBC-91F7-FF64-CA0E9292A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001" dirty="0"/>
              <a:t>Through these three aspects we have put prventive measures to avoid as much downtime as possible for when there is a connection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Incorporate a strict network timeout (maximum 4.0 seconds for cloud transit)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Implement try…except blocks intercepting network-specific failures (</a:t>
            </a:r>
            <a:r>
              <a:rPr lang="en-US" b="0" i="0" dirty="0" err="1">
                <a:solidFill>
                  <a:srgbClr val="45474C"/>
                </a:solidFill>
                <a:effectLst/>
                <a:latin typeface="Inter"/>
              </a:rPr>
              <a:t>TimeoutException</a:t>
            </a:r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, </a:t>
            </a:r>
            <a:r>
              <a:rPr lang="en-US" b="0" i="0" dirty="0" err="1">
                <a:solidFill>
                  <a:srgbClr val="45474C"/>
                </a:solidFill>
                <a:effectLst/>
                <a:latin typeface="Inter"/>
              </a:rPr>
              <a:t>HTTPStatusError</a:t>
            </a:r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, etc.) without crashing the thread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Incorporate an automated fallback routine: if a cloud request fails or hits a timeout, automatically re-route to the local </a:t>
            </a:r>
            <a:r>
              <a:rPr lang="en-US" b="0" i="0" dirty="0" err="1">
                <a:solidFill>
                  <a:srgbClr val="45474C"/>
                </a:solidFill>
                <a:effectLst/>
                <a:latin typeface="Inter"/>
              </a:rPr>
              <a:t>Ollama</a:t>
            </a:r>
            <a:r>
              <a:rPr lang="en-US" b="0" i="0" dirty="0">
                <a:solidFill>
                  <a:srgbClr val="45474C"/>
                </a:solidFill>
                <a:effectLst/>
                <a:latin typeface="Inter"/>
              </a:rPr>
              <a:t> service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5474C"/>
                </a:solidFill>
                <a:latin typeface="Inter"/>
              </a:rPr>
              <a:t>Enabling both services to read local languages and convert to machine </a:t>
            </a:r>
            <a:r>
              <a:rPr lang="en-US">
                <a:solidFill>
                  <a:srgbClr val="45474C"/>
                </a:solidFill>
                <a:latin typeface="Inter"/>
              </a:rPr>
              <a:t>readable inputs</a:t>
            </a:r>
            <a:endParaRPr lang="en-US" b="0" i="0" dirty="0">
              <a:solidFill>
                <a:srgbClr val="45474C"/>
              </a:solidFill>
              <a:effectLst/>
              <a:latin typeface="Inter"/>
            </a:endParaRPr>
          </a:p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200777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64584-60F1-3F18-63AD-708FD3A5A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E5687-0AE8-B873-27D6-46FA58F0E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001" dirty="0"/>
              <a:t>For when cloud fails:</a:t>
            </a:r>
          </a:p>
          <a:p>
            <a:endParaRPr lang="en-00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CACE7-E4B1-E900-090A-2658626CA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" y="3276600"/>
            <a:ext cx="89344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283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6176-81DD-B800-F501-5F880BC3D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4BC3F-C8BA-B44B-58A0-1B8E05898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001" dirty="0"/>
              <a:t>For when system takes too long to respond</a:t>
            </a:r>
          </a:p>
          <a:p>
            <a:endParaRPr lang="en-00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C135AE-1229-2E6A-53A8-FD44BBCBE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64" y="2992396"/>
            <a:ext cx="8428736" cy="152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50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6415-A5FD-9F52-AD34-7FAB16B8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45170-465C-CCF3-CD04-F856A5C97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001" dirty="0"/>
              <a:t>For when the patient uses kiswahili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646252-C4F9-5FCD-F84D-C6E0DC88D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64" y="3295650"/>
            <a:ext cx="7772400" cy="104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58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12B4D-7E61-56D3-3590-5B94C3101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OPERATIONAL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B8F05-92D9-925F-25AC-26AC78407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001" dirty="0"/>
              <a:t>There are eventual constraints will will still face due to model choice:</a:t>
            </a:r>
            <a:endParaRPr lang="en-US" b="1" dirty="0">
              <a:solidFill>
                <a:srgbClr val="45474C"/>
              </a:solidFill>
              <a:latin typeface="Inter"/>
            </a:endParaRPr>
          </a:p>
          <a:p>
            <a:r>
              <a:rPr lang="en-US" b="1" i="0" dirty="0">
                <a:solidFill>
                  <a:srgbClr val="45474C"/>
                </a:solidFill>
                <a:effectLst/>
                <a:latin typeface="Inter"/>
              </a:rPr>
              <a:t>Semantic </a:t>
            </a:r>
            <a:r>
              <a:rPr lang="en-US" b="1" i="0" dirty="0">
                <a:solidFill>
                  <a:schemeClr val="tx1"/>
                </a:solidFill>
                <a:effectLst/>
                <a:latin typeface="Inter"/>
              </a:rPr>
              <a:t>drift -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users alter their phrasing or communication channels, the AI's mapping definitions may drift.</a:t>
            </a:r>
          </a:p>
          <a:p>
            <a:r>
              <a:rPr lang="en-US" b="1" i="0" u="none" strike="noStrike" dirty="0">
                <a:solidFill>
                  <a:schemeClr val="tx1"/>
                </a:solidFill>
                <a:effectLst/>
                <a:latin typeface="Google Sans"/>
              </a:rPr>
              <a:t>Shadow AI and Model Complexity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Google Sans"/>
              </a:rPr>
              <a:t>: Relying on third-party foundational models limits internal validation capabilities, leaving the organization heavily dependent on an external vendor’s updates and performance stability.</a:t>
            </a:r>
            <a:endParaRPr lang="en-US" u="none" strike="noStrike" dirty="0">
              <a:solidFill>
                <a:schemeClr val="tx1"/>
              </a:solidFill>
              <a:latin typeface="Google Sans"/>
            </a:endParaRPr>
          </a:p>
          <a:p>
            <a:r>
              <a:rPr lang="en-US" b="1" i="0" u="none" strike="noStrike" dirty="0">
                <a:solidFill>
                  <a:schemeClr val="tx1"/>
                </a:solidFill>
                <a:effectLst/>
                <a:latin typeface="Google Sans"/>
              </a:rPr>
              <a:t>Auditability and </a:t>
            </a:r>
            <a:r>
              <a:rPr lang="en-US" b="1" i="0" u="none" strike="noStrike" dirty="0" err="1">
                <a:solidFill>
                  <a:schemeClr val="tx1"/>
                </a:solidFill>
                <a:effectLst/>
                <a:latin typeface="Google Sans"/>
              </a:rPr>
              <a:t>Explainability</a:t>
            </a:r>
            <a:r>
              <a:rPr lang="en-US" b="1" i="0" u="none" strike="noStrike" dirty="0">
                <a:solidFill>
                  <a:schemeClr val="tx1"/>
                </a:solidFill>
                <a:effectLst/>
                <a:latin typeface="Google Sans"/>
              </a:rPr>
              <a:t> Gaps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: Loss of context for raw customer </a:t>
            </a:r>
            <a:r>
              <a:rPr lang="en-US" dirty="0">
                <a:solidFill>
                  <a:schemeClr val="tx1"/>
                </a:solidFill>
                <a:latin typeface="-webkit-standard"/>
              </a:rPr>
              <a:t>conversation may be important for regulators and auditors to get a clearer picture of operations</a:t>
            </a:r>
            <a:endParaRPr lang="en-US" b="0" i="0" u="none" strike="noStrike" dirty="0">
              <a:solidFill>
                <a:schemeClr val="tx1"/>
              </a:solidFill>
              <a:effectLst/>
              <a:latin typeface="-webkit-standard"/>
            </a:endParaRPr>
          </a:p>
          <a:p>
            <a:r>
              <a:rPr lang="en-US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 </a:t>
            </a:r>
            <a:r>
              <a:rPr lang="en-US" b="1" dirty="0" err="1">
                <a:solidFill>
                  <a:srgbClr val="45474C"/>
                </a:solidFill>
                <a:latin typeface="Inter"/>
              </a:rPr>
              <a:t>Gaurdrails</a:t>
            </a:r>
            <a:r>
              <a:rPr lang="en-US" b="1" dirty="0">
                <a:solidFill>
                  <a:srgbClr val="45474C"/>
                </a:solidFill>
                <a:latin typeface="Inter"/>
              </a:rPr>
              <a:t> are needed for user prompts to avoid unsafe inputs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45474C"/>
                </a:solidFill>
                <a:latin typeface="Inter"/>
              </a:rPr>
              <a:t> </a:t>
            </a:r>
          </a:p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24475630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1706</TotalTime>
  <Words>699</Words>
  <Application>Microsoft Macintosh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-webkit-standard</vt:lpstr>
      <vt:lpstr>Arial</vt:lpstr>
      <vt:lpstr>Gill Sans MT</vt:lpstr>
      <vt:lpstr>Google Sans</vt:lpstr>
      <vt:lpstr>Hanken Grotesk</vt:lpstr>
      <vt:lpstr>Inter</vt:lpstr>
      <vt:lpstr>Lato Extended</vt:lpstr>
      <vt:lpstr>Menlo</vt:lpstr>
      <vt:lpstr>Parcel</vt:lpstr>
      <vt:lpstr>The AFYA PLUS TRIAGE ENGINE</vt:lpstr>
      <vt:lpstr>BUSINESS PROBLEM</vt:lpstr>
      <vt:lpstr>KEY BUSINESS IMPACTS</vt:lpstr>
      <vt:lpstr>The Model Selection </vt:lpstr>
      <vt:lpstr>JSON EXTRACTION</vt:lpstr>
      <vt:lpstr>Prompt engineering</vt:lpstr>
      <vt:lpstr>Prompt instructions</vt:lpstr>
      <vt:lpstr>Programmatic Inference &amp; Resilience  </vt:lpstr>
      <vt:lpstr>Examples </vt:lpstr>
      <vt:lpstr>EXamples</vt:lpstr>
      <vt:lpstr>EXAMPLES</vt:lpstr>
      <vt:lpstr>OPERATIONAL RISKS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AFYA PLUS TRIAGE ENGINE</dc:title>
  <dc:creator>MAC</dc:creator>
  <cp:lastModifiedBy>MAC</cp:lastModifiedBy>
  <cp:revision>2</cp:revision>
  <dcterms:created xsi:type="dcterms:W3CDTF">2026-07-09T13:01:20Z</dcterms:created>
  <dcterms:modified xsi:type="dcterms:W3CDTF">2026-07-10T21:08:31Z</dcterms:modified>
</cp:coreProperties>
</file>